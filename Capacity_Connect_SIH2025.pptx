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SMART INDIA HACKATHON 2025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/>
            </a:pPr>
            <a:r>
              <a:t>• Problem Statement ID: SIH-2025-CC-01</a:t>
            </a:r>
          </a:p>
          <a:p>
            <a:pPr>
              <a:defRPr sz="1800"/>
            </a:pPr>
            <a:r>
              <a:t>• Problem Statement Title: CAPACITY CONNECT - A Digital Capacity Building and Learning Management Portal</a:t>
            </a:r>
          </a:p>
          <a:p>
            <a:pPr>
              <a:defRPr sz="1800"/>
            </a:pPr>
            <a:r>
              <a:t>• Theme: Smart Education / Enterprise Solutions</a:t>
            </a:r>
          </a:p>
          <a:p>
            <a:pPr>
              <a:defRPr sz="1800"/>
            </a:pPr>
            <a:r>
              <a:t>• PS Category: Software</a:t>
            </a:r>
          </a:p>
          <a:p>
            <a:pPr>
              <a:defRPr sz="1800"/>
            </a:pPr>
            <a:r>
              <a:t>• Team ID: [Your Team ID]</a:t>
            </a:r>
          </a:p>
          <a:p>
            <a:pPr>
              <a:defRPr sz="1800"/>
            </a:pPr>
            <a:r>
              <a:t>• Team Name: [Your Team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000">
                <a:solidFill>
                  <a:srgbClr val="003366"/>
                </a:solidFill>
              </a:defRPr>
            </a:pPr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 b="1"/>
            </a:pPr>
            <a:r>
              <a:t>CAPACITY CONNECT: Intelligent Capacity Building &amp; Learning Portal</a:t>
            </a:r>
          </a:p>
          <a:p>
            <a:pPr>
              <a:defRPr sz="1800" b="1"/>
            </a:pPr>
            <a:r>
              <a:t>Detailed Explanation:</a:t>
            </a:r>
          </a:p>
          <a:p>
            <a:pPr lvl="1">
              <a:defRPr sz="1800"/>
            </a:pPr>
            <a:r>
              <a:t>A centralized web portal that automates organizational competency tracking, matches employees with expert trainers, and delivers structured digital learning.</a:t>
            </a:r>
          </a:p>
          <a:p>
            <a:pPr>
              <a:defRPr sz="1800" b="1"/>
            </a:pPr>
            <a:r>
              <a:t>How it Addresses the Problem:</a:t>
            </a:r>
          </a:p>
          <a:p>
            <a:pPr lvl="1">
              <a:defRPr sz="1800"/>
            </a:pPr>
            <a:r>
              <a:t>Replaces fragmented spreadsheets with real-time capability metrics, role benchmarks, and automated upskilling paths.</a:t>
            </a:r>
          </a:p>
          <a:p>
            <a:pPr>
              <a:defRPr sz="1800" b="1"/>
            </a:pPr>
            <a:r>
              <a:t>Innovation &amp; Uniqueness (USP):</a:t>
            </a:r>
          </a:p>
          <a:p>
            <a:pPr lvl="1">
              <a:defRPr sz="1800"/>
            </a:pPr>
            <a:r>
              <a:t>Automated Skill-Gap Engine: Evaluates (Required Level - Current Level) into Criticality tiers.</a:t>
            </a:r>
          </a:p>
          <a:p>
            <a:pPr lvl="1">
              <a:defRPr sz="1800"/>
            </a:pPr>
            <a:r>
              <a:t>6-Signal Weighted Matching Engine: Pairs trainees to trainers using skill overlap, availability, ratings &amp; experience.</a:t>
            </a:r>
          </a:p>
          <a:p>
            <a:pPr lvl="1">
              <a:defRPr sz="1800"/>
            </a:pPr>
            <a:r>
              <a:t>Tamper-Proof QR Certification: Issues verifiable digital certificates with instant scan verification.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000">
                <a:solidFill>
                  <a:srgbClr val="003366"/>
                </a:solidFill>
              </a:defRPr>
            </a:pPr>
            <a:r>
              <a:t>TECHNICAL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 b="1"/>
            </a:pPr>
            <a:r>
              <a:t>Technologies &amp; Frameworks:</a:t>
            </a:r>
          </a:p>
          <a:p>
            <a:pPr lvl="1">
              <a:defRPr sz="1800"/>
            </a:pPr>
            <a:r>
              <a:t>Frontend: Next.js 14 (App Router), TailwindCSS, Radix UI, Lucide Icons</a:t>
            </a:r>
          </a:p>
          <a:p>
            <a:pPr lvl="1">
              <a:defRPr sz="1800"/>
            </a:pPr>
            <a:r>
              <a:t>Backend API: NestJS (Enterprise Modular Architecture, RBAC &amp; Guards)</a:t>
            </a:r>
          </a:p>
          <a:p>
            <a:pPr lvl="1">
              <a:defRPr sz="1800"/>
            </a:pPr>
            <a:r>
              <a:t>Database &amp; Caching: PostgreSQL (Prisma ORM, 40+ models), Redis</a:t>
            </a:r>
          </a:p>
          <a:p>
            <a:pPr lvl="1">
              <a:defRPr sz="1800"/>
            </a:pPr>
            <a:r>
              <a:t>Storage &amp; Infrastructure: MinIO / S3 Object Storage, Docker Containerization</a:t>
            </a:r>
          </a:p>
          <a:p>
            <a:pPr>
              <a:defRPr sz="1800" b="1"/>
            </a:pPr>
            <a:r>
              <a:t>Implementation Process Flow:</a:t>
            </a:r>
          </a:p>
          <a:p>
            <a:pPr lvl="1">
              <a:defRPr sz="1800"/>
            </a:pPr>
            <a:r>
              <a:t>1. Trainee Self/Manager Assessment -&gt; 2. Skill Gap Computation Engine -&gt;</a:t>
            </a:r>
          </a:p>
          <a:p>
            <a:pPr lvl="1">
              <a:defRPr sz="1800"/>
            </a:pPr>
            <a:r>
              <a:t>3. Multi-Signal Trainer/Course Matching -&gt; 4. Interactive Learning &amp; Quiz -&gt; 5. QR Certificate Verification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000">
                <a:solidFill>
                  <a:srgbClr val="003366"/>
                </a:solidFill>
              </a:defRPr>
            </a:pPr>
            <a:r>
              <a:t>FEASIBILITY AND VIABILITY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 b="1"/>
            </a:pPr>
            <a:r>
              <a:t>Feasibility Analysis:</a:t>
            </a:r>
          </a:p>
          <a:p>
            <a:pPr lvl="1">
              <a:defRPr sz="1800"/>
            </a:pPr>
            <a:r>
              <a:t>High Scalability: Microservice-ready Turborepo monorepo with containerized services.</a:t>
            </a:r>
          </a:p>
          <a:p>
            <a:pPr lvl="1">
              <a:defRPr sz="1800"/>
            </a:pPr>
            <a:r>
              <a:t>Enterprise Security: Argon2id password hashing, HTTP-only JWTs, Role-Based Access Control.</a:t>
            </a:r>
          </a:p>
          <a:p>
            <a:pPr>
              <a:defRPr sz="1800" b="1"/>
            </a:pPr>
            <a:r>
              <a:t>Potential Challenges &amp; Risks:</a:t>
            </a:r>
          </a:p>
          <a:p>
            <a:pPr lvl="1">
              <a:defRPr sz="1800"/>
            </a:pPr>
            <a:r>
              <a:t>Complex custom skill taxonomies across diverse corporate/academic departments.</a:t>
            </a:r>
          </a:p>
          <a:p>
            <a:pPr lvl="1">
              <a:defRPr sz="1800"/>
            </a:pPr>
            <a:r>
              <a:t>Scheduling conflicts between active trainers and workforce trainees.</a:t>
            </a:r>
          </a:p>
          <a:p>
            <a:pPr>
              <a:defRPr sz="1800" b="1"/>
            </a:pPr>
            <a:r>
              <a:t>Mitigation Strategies:</a:t>
            </a:r>
          </a:p>
          <a:p>
            <a:pPr lvl="1">
              <a:defRPr sz="1800"/>
            </a:pPr>
            <a:r>
              <a:t>Dynamic Competency Framework: Flexible 40+ table schema allowing custom skill-to-competency mappings.</a:t>
            </a:r>
          </a:p>
          <a:p>
            <a:pPr lvl="1">
              <a:defRPr sz="1800"/>
            </a:pPr>
            <a:r>
              <a:t>Availability Slot Matching: Algorithm factors real-time weekly schedule matrices into pairing scores.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000">
                <a:solidFill>
                  <a:srgbClr val="003366"/>
                </a:solidFill>
              </a:defRPr>
            </a:pPr>
            <a:r>
              <a:t>IMPACT AND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 b="1"/>
            </a:pPr>
            <a:r>
              <a:t>Target Audience: Enterprises, Government Departments, Universities &amp; Skill Centers.</a:t>
            </a:r>
          </a:p>
          <a:p>
            <a:pPr>
              <a:defRPr sz="1800" b="1"/>
            </a:pPr>
            <a:r>
              <a:t>Key Benefits &amp; Outcomes:</a:t>
            </a:r>
          </a:p>
          <a:p>
            <a:pPr lvl="1">
              <a:defRPr sz="1800"/>
            </a:pPr>
            <a:r>
              <a:t>Economic: Reduces external training expenditures by up to 60% through optimized internal peer training.</a:t>
            </a:r>
          </a:p>
          <a:p>
            <a:pPr lvl="1">
              <a:defRPr sz="1800"/>
            </a:pPr>
            <a:r>
              <a:t>Operational: Cuts manual HR administration and training scheduling time by 80%.</a:t>
            </a:r>
          </a:p>
          <a:p>
            <a:pPr lvl="1">
              <a:defRPr sz="1800"/>
            </a:pPr>
            <a:r>
              <a:t>Strategic / Management: Real-time Organizational Heatmaps spot skill deficits before critical project failures.</a:t>
            </a:r>
          </a:p>
          <a:p>
            <a:pPr lvl="1">
              <a:defRPr sz="1800"/>
            </a:pPr>
            <a:r>
              <a:t>Trainee Empowerment: Clear visibility into personal career growth and fraud-proof shareable credentials.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000">
                <a:solidFill>
                  <a:srgbClr val="003366"/>
                </a:solidFill>
              </a:defRPr>
            </a:pPr>
            <a:r>
              <a:t>RESEARCH AND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 b="1"/>
            </a:pPr>
            <a:r>
              <a:t>Industry Research &amp; Validation:</a:t>
            </a:r>
          </a:p>
          <a:p>
            <a:pPr lvl="1">
              <a:defRPr sz="1800"/>
            </a:pPr>
            <a:r>
              <a:t>World Economic Forum (Future of Jobs Report): 50% of employees require significant reskilling by 2025.</a:t>
            </a:r>
          </a:p>
          <a:p>
            <a:pPr lvl="1">
              <a:defRPr sz="1800"/>
            </a:pPr>
            <a:r>
              <a:t>Gartner HR Insights: 70% of employees report lack of mastery in skills needed for future roles.</a:t>
            </a:r>
          </a:p>
          <a:p>
            <a:pPr>
              <a:defRPr sz="1800" b="1"/>
            </a:pPr>
            <a:r>
              <a:t>Key References &amp; Standards:</a:t>
            </a:r>
          </a:p>
          <a:p>
            <a:pPr lvl="1">
              <a:defRPr sz="1800"/>
            </a:pPr>
            <a:r>
              <a:t>National Skill Qualification Framework (NSQF) Competency Modeling Guidelines</a:t>
            </a:r>
          </a:p>
          <a:p>
            <a:pPr lvl="1">
              <a:defRPr sz="1800"/>
            </a:pPr>
            <a:r>
              <a:t>OWASP Application Security Verification Standard (ASVS) for RBAC &amp; Token Security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